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5" r:id="rId9"/>
    <p:sldId id="261" r:id="rId10"/>
    <p:sldId id="266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53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1900-89FE-9D31-B518-FAC13100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5890B-F4B9-29F5-B499-C077D1164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129A5-A542-F5C3-EC15-EB2DD598D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3A5F1-4818-85F3-81D2-00CCE2F58C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97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56873-9FD4-834E-D90C-05ABFB2F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32033-04E8-DEB9-B3A4-CFCA9B005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A8409-2588-E2ED-DA65-995655CE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167C6-19DB-664F-A87F-7953008E9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66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E74A-9736-C708-8780-E19ED7EC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A7924-B275-0FB7-5A0D-0765870787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B340F-5451-89D9-34B3-DE5A1FF1C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69CDC-898F-4762-2142-12C9B02983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0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94E9-4062-0A31-B760-64EAE8A2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B4C4E-6BF4-328B-4FEB-7FD7848CD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3E3FC-F887-2C34-9D87-433BDA8C4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845EB-7EF2-F1B6-EFDB-11147618C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381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954530"/>
            <a:ext cx="914400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Intelligence Pipeline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 &amp; Streamlit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3840480"/>
            <a:ext cx="256032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Machine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3840480"/>
            <a:ext cx="256032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3840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Definition &amp; Relevance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3F4F6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Challenge: How to segment e-commerce customers and recommend targeted discounts?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</a:rPr>
              <a:t>Business Relevance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💰 Maximize customer lifetime value through personalized discounts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📊 Identify high-value customers for retention strategies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🎯 Optimize marketing spend by targeting appropriate segments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7"/>
                </a:solidFill>
              </a:rPr>
              <a:t>📈 Increase conversion rates with data-driven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7BC5C-05BB-10C6-1818-F4AE4C26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DCEFF7-AD1B-9933-87AE-BAAA19CE90A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Technical Approach &amp; Methods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122D41-4874-2247-F99E-CF75B130FA45}"/>
              </a:ext>
            </a:extLst>
          </p:cNvPr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D0B226-EF6F-69C1-CBE3-440CFCBF6795}"/>
              </a:ext>
            </a:extLst>
          </p:cNvPr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Techniques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B9032DE-8DE4-89D1-4323-94BD0940C8BA}"/>
              </a:ext>
            </a:extLst>
          </p:cNvPr>
          <p:cNvSpPr/>
          <p:nvPr/>
        </p:nvSpPr>
        <p:spPr>
          <a:xfrm>
            <a:off x="457199" y="1783080"/>
            <a:ext cx="8229599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3DF1B9-E43C-9961-5FCE-0C32C501B6FD}"/>
              </a:ext>
            </a:extLst>
          </p:cNvPr>
          <p:cNvSpPr/>
          <p:nvPr/>
        </p:nvSpPr>
        <p:spPr>
          <a:xfrm>
            <a:off x="54864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1️⃣ Data Cleaning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04D88B-57DF-372A-4421-E06559211FC9}"/>
              </a:ext>
            </a:extLst>
          </p:cNvPr>
          <p:cNvSpPr/>
          <p:nvPr/>
        </p:nvSpPr>
        <p:spPr>
          <a:xfrm>
            <a:off x="54864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Remove missing values &amp; outliers (z-score &lt; 3)</a:t>
            </a: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D251CC9-04C1-7B21-1FB2-5BFBECA6E4E5}"/>
              </a:ext>
            </a:extLst>
          </p:cNvPr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6AB50E-B22F-1E3A-C1C0-BD76A08C41EB}"/>
              </a:ext>
            </a:extLst>
          </p:cNvPr>
          <p:cNvSpPr/>
          <p:nvPr/>
        </p:nvSpPr>
        <p:spPr>
          <a:xfrm>
            <a:off x="548640" y="2423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2️⃣ Feature Engineering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C4C770-8B37-323A-6360-83918505A28E}"/>
              </a:ext>
            </a:extLst>
          </p:cNvPr>
          <p:cNvSpPr/>
          <p:nvPr/>
        </p:nvSpPr>
        <p:spPr>
          <a:xfrm>
            <a:off x="54864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Create customer metrics (sales, quantity, frequency)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6BBF9FA-7CE7-A7D0-BECB-CA596E954E4C}"/>
              </a:ext>
            </a:extLst>
          </p:cNvPr>
          <p:cNvSpPr/>
          <p:nvPr/>
        </p:nvSpPr>
        <p:spPr>
          <a:xfrm>
            <a:off x="457200" y="2971800"/>
            <a:ext cx="8229598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82FDEC3-4474-68D4-6731-2D3B8388231B}"/>
              </a:ext>
            </a:extLst>
          </p:cNvPr>
          <p:cNvSpPr/>
          <p:nvPr/>
        </p:nvSpPr>
        <p:spPr>
          <a:xfrm>
            <a:off x="54864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3️⃣ Standardization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7F5554-D0F7-0430-E6A1-0CF64CBB8208}"/>
              </a:ext>
            </a:extLst>
          </p:cNvPr>
          <p:cNvSpPr/>
          <p:nvPr/>
        </p:nvSpPr>
        <p:spPr>
          <a:xfrm>
            <a:off x="54864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Scale features using StandardScaler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1227303-64DB-72EE-D1CF-33D0344C28F5}"/>
              </a:ext>
            </a:extLst>
          </p:cNvPr>
          <p:cNvSpPr/>
          <p:nvPr/>
        </p:nvSpPr>
        <p:spPr>
          <a:xfrm>
            <a:off x="457200" y="3566160"/>
            <a:ext cx="8229598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93E0ECE-DEAF-A42B-4C45-9276F9430920}"/>
              </a:ext>
            </a:extLst>
          </p:cNvPr>
          <p:cNvSpPr/>
          <p:nvPr/>
        </p:nvSpPr>
        <p:spPr>
          <a:xfrm>
            <a:off x="548640" y="3611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4️⃣ K-Means Clustering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104255C-9A34-27DC-8CCE-B62442094282}"/>
              </a:ext>
            </a:extLst>
          </p:cNvPr>
          <p:cNvSpPr/>
          <p:nvPr/>
        </p:nvSpPr>
        <p:spPr>
          <a:xfrm>
            <a:off x="548640" y="3840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Segment into 3 customer groups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296B9B8-0AA4-8F93-DB76-97425E10F53D}"/>
              </a:ext>
            </a:extLst>
          </p:cNvPr>
          <p:cNvSpPr/>
          <p:nvPr/>
        </p:nvSpPr>
        <p:spPr>
          <a:xfrm>
            <a:off x="457200" y="4160520"/>
            <a:ext cx="8229598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2A2C883-CE46-E14E-8B72-333EF7F65484}"/>
              </a:ext>
            </a:extLst>
          </p:cNvPr>
          <p:cNvSpPr/>
          <p:nvPr/>
        </p:nvSpPr>
        <p:spPr>
          <a:xfrm>
            <a:off x="54864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5️⃣ Discount Mapping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5EFBA4A-3D20-A37B-E6D2-0F5CA1630027}"/>
              </a:ext>
            </a:extLst>
          </p:cNvPr>
          <p:cNvSpPr/>
          <p:nvPr/>
        </p:nvSpPr>
        <p:spPr>
          <a:xfrm>
            <a:off x="548640" y="44348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Assign discounts by cluster value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8310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ML Pipeline Flow</a:t>
            </a:r>
            <a:endParaRPr lang="en-US" sz="1600" dirty="0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Technical Approach &amp; Methods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663" y="1783080"/>
            <a:ext cx="39319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103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Load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8103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pandas.read_excel()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39319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Validate &amp; Clean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dropna() + zscore filtering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423160"/>
            <a:ext cx="39319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468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Calculate Metrics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2697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groupby().agg()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423160"/>
            <a:ext cx="39319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468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Normalize Features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26974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39319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Train K-Means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3337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KMeans(n_clusters=3)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063240"/>
            <a:ext cx="3931920" cy="54864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08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Assign Discounts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3337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cluster.map() logic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">
            <a:extLst>
              <a:ext uri="{FF2B5EF4-FFF2-40B4-BE49-F238E27FC236}">
                <a16:creationId xmlns:a16="http://schemas.microsoft.com/office/drawing/2014/main" id="{CC83A4D6-4E88-9A24-C3BB-3550923A7B13}"/>
              </a:ext>
            </a:extLst>
          </p:cNvPr>
          <p:cNvSpPr/>
          <p:nvPr/>
        </p:nvSpPr>
        <p:spPr>
          <a:xfrm>
            <a:off x="4754880" y="1773936"/>
            <a:ext cx="3931920" cy="2286000"/>
          </a:xfrm>
          <a:prstGeom prst="rect">
            <a:avLst/>
          </a:prstGeom>
          <a:solidFill>
            <a:srgbClr val="F3F4F6"/>
          </a:solidFill>
          <a:ln w="25400">
            <a:solidFill>
              <a:srgbClr val="00B05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Dataset &amp;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Dataset Source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931920" cy="2286000"/>
          </a:xfrm>
          <a:prstGeom prst="rect">
            <a:avLst/>
          </a:prstGeom>
          <a:solidFill>
            <a:srgbClr val="F3F4F6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📁 File: Online+Retail.xlsx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130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📊 Record Type: e-commerce transactions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🔢 Key Columns: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340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   • CustomerID, InvoiceNo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   • Quantity, UnitPrice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   • Description, Country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   • StockCode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Preprocessing Steps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1. Load &amp; Inspect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read_excel() + data type check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13055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2. Handle Missing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313432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dropna() on critical columns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47802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3. Data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60904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Convert CustomerID to 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82549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4. Feature Creation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008376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TotalSum = Quantity × UnitPrice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1729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5. Outlier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355848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Z-score filtering (threshold: 3σ)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520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6. Aggregation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703320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Group by CustomerID &amp; summarize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255BA-6E8E-AE3C-A344-54E1E555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3AECFE-7A97-673F-26FF-2D660FEAFE20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Dataset &amp; Preprocessing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787C91-4644-4329-276F-D914668B08C6}"/>
              </a:ext>
            </a:extLst>
          </p:cNvPr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F253190-3F2D-C63D-ABA3-6D1371009ABE}"/>
              </a:ext>
            </a:extLst>
          </p:cNvPr>
          <p:cNvSpPr/>
          <p:nvPr/>
        </p:nvSpPr>
        <p:spPr>
          <a:xfrm>
            <a:off x="457200" y="1307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</a:rPr>
              <a:t>Key Metrics Generated</a:t>
            </a:r>
            <a:endParaRPr lang="en-US" sz="2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D43AFCD-CFE3-4E8E-EB63-B0196534E4AD}"/>
              </a:ext>
            </a:extLst>
          </p:cNvPr>
          <p:cNvSpPr/>
          <p:nvPr/>
        </p:nvSpPr>
        <p:spPr>
          <a:xfrm>
            <a:off x="731520" y="183794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📌 total_quantity: Sum of all items purchased</a:t>
            </a:r>
            <a:endParaRPr lang="en-US" sz="16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CC8040B-E474-2182-A905-39E0E147AFA4}"/>
              </a:ext>
            </a:extLst>
          </p:cNvPr>
          <p:cNvSpPr/>
          <p:nvPr/>
        </p:nvSpPr>
        <p:spPr>
          <a:xfrm>
            <a:off x="731520" y="211226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💵 total_sales: Total spending amount</a:t>
            </a: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87C3305-5B69-3769-75CC-3425208FB723}"/>
              </a:ext>
            </a:extLst>
          </p:cNvPr>
          <p:cNvSpPr/>
          <p:nvPr/>
        </p:nvSpPr>
        <p:spPr>
          <a:xfrm>
            <a:off x="731520" y="2384219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⏳ average_price: Mean unit price per customer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0143603-2AEA-C18F-66DA-4631854A4C17}"/>
              </a:ext>
            </a:extLst>
          </p:cNvPr>
          <p:cNvSpPr/>
          <p:nvPr/>
        </p:nvSpPr>
        <p:spPr>
          <a:xfrm>
            <a:off x="731520" y="265617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📝 invoice_count: Number of unique orders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BC016F9-00CB-9800-3B7A-1E8CE277B101}"/>
              </a:ext>
            </a:extLst>
          </p:cNvPr>
          <p:cNvSpPr/>
          <p:nvPr/>
        </p:nvSpPr>
        <p:spPr>
          <a:xfrm>
            <a:off x="731520" y="2928129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🛍️ unique_products: Variety of products bought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2888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Evaluation &amp;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Clustering Results (K=3)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46888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Top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937"/>
                </a:solidFill>
              </a:rPr>
              <a:t>Highest avg_sales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210312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Discount: 20%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F2937"/>
                </a:solidFill>
              </a:rPr>
              <a:t>Based on total_sales value clustering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65176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011680"/>
            <a:ext cx="24688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⭐ Good 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937"/>
                </a:solidFill>
              </a:rPr>
              <a:t>Medium avg_sales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2880360"/>
            <a:ext cx="21031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Discount: 15%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F2937"/>
                </a:solidFill>
              </a:rPr>
              <a:t>Based on total_sales value clustering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2651760" cy="2011680"/>
          </a:xfrm>
          <a:prstGeom prst="rect">
            <a:avLst/>
          </a:prstGeom>
          <a:solidFill>
            <a:srgbClr val="F3F4F6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011680"/>
            <a:ext cx="246888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🌱 New 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F2937"/>
                </a:solidFill>
              </a:rPr>
              <a:t>Lowest avg_sales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880360"/>
            <a:ext cx="210312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Discount: 10%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F2937"/>
                </a:solidFill>
              </a:rPr>
              <a:t>Based on total_sales value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70573-47F3-68A9-7298-E05F0A20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61499D9-E89C-0CB9-3235-F78482FBFCFE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Evaluation &amp; Results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0063F7C-23A2-E285-A263-5C6669BEAA1D}"/>
              </a:ext>
            </a:extLst>
          </p:cNvPr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6E5D614-1905-2C88-2A07-8D16C3769C80}"/>
              </a:ext>
            </a:extLst>
          </p:cNvPr>
          <p:cNvSpPr/>
          <p:nvPr/>
        </p:nvSpPr>
        <p:spPr>
          <a:xfrm>
            <a:off x="457200" y="124611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</a:rPr>
              <a:t>Evaluation Metrics</a:t>
            </a:r>
            <a:endParaRPr lang="en-US" sz="2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4FCCDA5-1657-7231-452C-81894732D289}"/>
              </a:ext>
            </a:extLst>
          </p:cNvPr>
          <p:cNvSpPr/>
          <p:nvPr/>
        </p:nvSpPr>
        <p:spPr>
          <a:xfrm>
            <a:off x="640080" y="172617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✅ Clustering Validity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92C34C2-82B4-BC4E-8972-29FE6BFEDACA}"/>
              </a:ext>
            </a:extLst>
          </p:cNvPr>
          <p:cNvSpPr/>
          <p:nvPr/>
        </p:nvSpPr>
        <p:spPr>
          <a:xfrm>
            <a:off x="2560320" y="1726170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K-Means converges successfully with 10 initializations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BAB7DF8-7035-9843-B3E9-980141CFB144}"/>
              </a:ext>
            </a:extLst>
          </p:cNvPr>
          <p:cNvSpPr/>
          <p:nvPr/>
        </p:nvSpPr>
        <p:spPr>
          <a:xfrm>
            <a:off x="640080" y="207364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✅ Feature Importance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19B1353-B54A-339D-A510-734AD492356E}"/>
              </a:ext>
            </a:extLst>
          </p:cNvPr>
          <p:cNvSpPr/>
          <p:nvPr/>
        </p:nvSpPr>
        <p:spPr>
          <a:xfrm>
            <a:off x="2560320" y="207364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5 normalized features capture customer behavior patterns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1A4DDF5-E589-B21C-8C22-0BFCBE1BB5CD}"/>
              </a:ext>
            </a:extLst>
          </p:cNvPr>
          <p:cNvSpPr/>
          <p:nvPr/>
        </p:nvSpPr>
        <p:spPr>
          <a:xfrm>
            <a:off x="640080" y="242111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✅ Business Logic</a:t>
            </a: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B05BFD0-3E03-F2EF-4184-246D02E9D4AA}"/>
              </a:ext>
            </a:extLst>
          </p:cNvPr>
          <p:cNvSpPr/>
          <p:nvPr/>
        </p:nvSpPr>
        <p:spPr>
          <a:xfrm>
            <a:off x="2560320" y="2421114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Discount assignment correlates with customer value (avg_sales)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DF4B065-256C-C23B-77AB-260EB150C750}"/>
              </a:ext>
            </a:extLst>
          </p:cNvPr>
          <p:cNvSpPr/>
          <p:nvPr/>
        </p:nvSpPr>
        <p:spPr>
          <a:xfrm>
            <a:off x="640080" y="276858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</a:rPr>
              <a:t>✅ Scalability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3BDAD52-3A9B-86B5-3BD4-F42A23AF418A}"/>
              </a:ext>
            </a:extLst>
          </p:cNvPr>
          <p:cNvSpPr/>
          <p:nvPr/>
        </p:nvSpPr>
        <p:spPr>
          <a:xfrm>
            <a:off x="2560320" y="2768586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Cached computation for real-time lookup performance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45723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Innovation, Challenges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🚀 Innovations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Real-time customer search by 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Dynamic discount rates (no hard-coding)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Automated outlier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Caching for performance optimization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Responsive cluster summaries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Interactive Streamlit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Challenges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Fixed K=3 clusters (hardcoded)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No temporal analysis (trends over time)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Limited to purchase metrics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Assumes discrete discount tiers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No A/B testing validation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Sensitivity to outlier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68580-607D-FB10-2C4C-4D061231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>
            <a:extLst>
              <a:ext uri="{FF2B5EF4-FFF2-40B4-BE49-F238E27FC236}">
                <a16:creationId xmlns:a16="http://schemas.microsoft.com/office/drawing/2014/main" id="{04E30C2F-4946-2D2A-7806-D1E0A060B72C}"/>
              </a:ext>
            </a:extLst>
          </p:cNvPr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🔮 Future Enhancements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1BA35FA-000D-8823-C0BD-7B2919731C00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Innovation, Challenges &amp; Future Work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F018A9-6010-202A-4C46-5F5329EACEAF}"/>
              </a:ext>
            </a:extLst>
          </p:cNvPr>
          <p:cNvSpPr/>
          <p:nvPr/>
        </p:nvSpPr>
        <p:spPr>
          <a:xfrm>
            <a:off x="457200" y="1005840"/>
            <a:ext cx="1828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E5F2BF9-4130-636D-2605-665ADED9C4FD}"/>
              </a:ext>
            </a:extLst>
          </p:cNvPr>
          <p:cNvSpPr/>
          <p:nvPr/>
        </p:nvSpPr>
        <p:spPr>
          <a:xfrm>
            <a:off x="594360" y="1784657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🔹 Elbow method for optimal K selection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3856BF4-4ECD-E76E-FA69-C9DCA26D6D06}"/>
              </a:ext>
            </a:extLst>
          </p:cNvPr>
          <p:cNvSpPr/>
          <p:nvPr/>
        </p:nvSpPr>
        <p:spPr>
          <a:xfrm>
            <a:off x="594360" y="2086409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🔹 RFM analysis (Recency, Frequency, Monetary value)</a:t>
            </a:r>
            <a:endParaRPr lang="en-US" sz="11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FB4BB3B-2084-1CF2-3D47-82B660317529}"/>
              </a:ext>
            </a:extLst>
          </p:cNvPr>
          <p:cNvSpPr/>
          <p:nvPr/>
        </p:nvSpPr>
        <p:spPr>
          <a:xfrm>
            <a:off x="594360" y="2388161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🔹 Predictive churn modeling + retention strategies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21C9E53-90FB-7E64-6E83-D59A71D8DF5C}"/>
              </a:ext>
            </a:extLst>
          </p:cNvPr>
          <p:cNvSpPr/>
          <p:nvPr/>
        </p:nvSpPr>
        <p:spPr>
          <a:xfrm>
            <a:off x="594360" y="2689913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🔹 Time-series forecasting for seasonal trends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4456895-0000-FFFD-F2A4-38B6DF225FF8}"/>
              </a:ext>
            </a:extLst>
          </p:cNvPr>
          <p:cNvSpPr/>
          <p:nvPr/>
        </p:nvSpPr>
        <p:spPr>
          <a:xfrm>
            <a:off x="594360" y="2991665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🔹 LLM integration for personalized marketing recommendations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95077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182880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📊 Data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937"/>
                </a:solidFill>
              </a:rPr>
              <a:t>Pandas, Excel, Z-score filtering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280160"/>
            <a:ext cx="2377440" cy="182880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⚙️ ML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937"/>
                </a:solidFill>
              </a:rPr>
              <a:t>scikit-learn, StandardScaler, KMeans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280160"/>
            <a:ext cx="2377440" cy="182880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</a:rPr>
              <a:t>🎨 UI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783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2937"/>
                </a:solidFill>
              </a:rPr>
              <a:t>Streamlit, Interactive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2194560"/>
            <a:ext cx="13716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2194560"/>
            <a:ext cx="13716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✨ Key Achievements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⚡ Real-time customer segmentation &amp; discount assignment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📈 3-tier customer hierarchy for targeted marketing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🔧 Automated data quality management with outlier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💡 Scalable architecture with Streamlit caching for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4114800" cy="123444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10B981"/>
                </a:solidFill>
              </a:rPr>
              <a:t>Ready to transform customer data into actionable insights!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655</Words>
  <Application>Microsoft Office PowerPoint</Application>
  <PresentationFormat>عرض على الشاشة (16:9)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george samer</cp:lastModifiedBy>
  <cp:revision>2</cp:revision>
  <dcterms:created xsi:type="dcterms:W3CDTF">2026-05-24T11:29:29Z</dcterms:created>
  <dcterms:modified xsi:type="dcterms:W3CDTF">2026-05-24T14:40:58Z</dcterms:modified>
</cp:coreProperties>
</file>